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($K)</c:v>
                </c:pt>
              </c:strCache>
            </c:strRef>
          </c:tx>
          <c:spPr>
            <a:solidFill>
              <a:srgbClr val="D7A800"/>
            </a:solidFill>
            <a:ln w="38100" cap="flat">
              <a:solidFill>
                <a:srgbClr val="D7A8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7A800"/>
              </a:solidFill>
              <a:ln w="9525" cap="flat">
                <a:solidFill>
                  <a:srgbClr val="D7A8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2011</c:v>
                  </c:pt>
                  <c:pt idx="1">
                    <c:v>2012</c:v>
                  </c:pt>
                  <c:pt idx="2">
                    <c:v>2014</c:v>
                  </c:pt>
                  <c:pt idx="3">
                    <c:v>2015</c:v>
                  </c:pt>
                  <c:pt idx="4">
                    <c:v>2016</c:v>
                  </c:pt>
                  <c:pt idx="5">
                    <c:v>2017</c:v>
                  </c:pt>
                  <c:pt idx="6">
                    <c:v>2018</c:v>
                  </c:pt>
                  <c:pt idx="7">
                    <c:v>2020</c:v>
                  </c:pt>
                  <c:pt idx="8">
                    <c:v>2022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78.1</c:v>
                </c:pt>
                <c:pt idx="1">
                  <c:v>130.5</c:v>
                </c:pt>
                <c:pt idx="2">
                  <c:v>131.8</c:v>
                </c:pt>
                <c:pt idx="3">
                  <c:v>130.9</c:v>
                </c:pt>
                <c:pt idx="4">
                  <c:v>132.1</c:v>
                </c:pt>
                <c:pt idx="5">
                  <c:v>133.1</c:v>
                </c:pt>
                <c:pt idx="6">
                  <c:v>204.5</c:v>
                </c:pt>
                <c:pt idx="7">
                  <c:v>129.1</c:v>
                </c:pt>
                <c:pt idx="8">
                  <c:v>131.5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3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5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5C8F33"/>
              </a:solidFill>
              <a:effectLst/>
            </c:spPr>
          </c:dPt>
          <c:dPt>
            <c:idx val="1"/>
            <c:bubble3D val="0"/>
            <c:spPr>
              <a:solidFill>
                <a:srgbClr val="D7A800"/>
              </a:solidFill>
              <a:effectLst/>
            </c:spPr>
          </c:dPt>
          <c:dLbls>
            <c:dLbl>
              <c:idx val="0"/>
              <c:numFmt formatCode="0.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</c:dLbl>
            <c:dLbl>
              <c:idx val="1"/>
              <c:numFmt formatCode="0.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</c:dLbl>
            <c:numFmt formatCode="0.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Low Fat</c:v>
                </c:pt>
                <c:pt idx="1">
                  <c:v>Regular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425.4</c:v>
                </c:pt>
                <c:pt idx="1">
                  <c:v>776.3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Low Fat</c:v>
                </c:pt>
              </c:strCache>
            </c:strRef>
          </c:tx>
          <c:spPr>
            <a:solidFill>
              <a:srgbClr val="5C8F3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Tier 3</c:v>
                  </c:pt>
                  <c:pt idx="1">
                    <c:v>Tier 2</c:v>
                  </c:pt>
                  <c:pt idx="2">
                    <c:v>Tier 1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165.3</c:v>
                </c:pt>
                <c:pt idx="1">
                  <c:v>138.7</c:v>
                </c:pt>
                <c:pt idx="2">
                  <c:v>121.3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Regular</c:v>
                </c:pt>
              </c:strCache>
            </c:strRef>
          </c:tx>
          <c:spPr>
            <a:solidFill>
              <a:srgbClr val="D7A8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Tier 3</c:v>
                  </c:pt>
                  <c:pt idx="1">
                    <c:v>Tier 2</c:v>
                  </c:pt>
                  <c:pt idx="2">
                    <c:v>Tier 1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306.8</c:v>
                </c:pt>
                <c:pt idx="1">
                  <c:v>254.5</c:v>
                </c:pt>
                <c:pt idx="2">
                  <c:v>215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5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00"/>
      </c:valAx>
      <c:spPr>
        <a:noFill/>
        <a:ln>
          <a:noFill/>
        </a:ln>
        <a:effectLst/>
      </c:spPr>
    </c:plotArea>
    <c:legend>
      <c:legendPos val="t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D7A800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Fruits &amp; Vegetables</c:v>
                  </c:pt>
                  <c:pt idx="1">
                    <c:v>Snack Foods</c:v>
                  </c:pt>
                  <c:pt idx="2">
                    <c:v>Household</c:v>
                  </c:pt>
                  <c:pt idx="3">
                    <c:v>Frozen Foods</c:v>
                  </c:pt>
                  <c:pt idx="4">
                    <c:v>Dairy</c:v>
                  </c:pt>
                  <c:pt idx="5">
                    <c:v>Canned</c:v>
                  </c:pt>
                  <c:pt idx="6">
                    <c:v>Baking Goods</c:v>
                  </c:pt>
                  <c:pt idx="7">
                    <c:v>Health &amp; Hygiene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178</c:v>
                </c:pt>
                <c:pt idx="1">
                  <c:v>175.4</c:v>
                </c:pt>
                <c:pt idx="2">
                  <c:v>136</c:v>
                </c:pt>
                <c:pt idx="3">
                  <c:v>118.6</c:v>
                </c:pt>
                <c:pt idx="4">
                  <c:v>101.3</c:v>
                </c:pt>
                <c:pt idx="5">
                  <c:v>90.7</c:v>
                </c:pt>
                <c:pt idx="6">
                  <c:v>81.9</c:v>
                </c:pt>
                <c:pt idx="7">
                  <c:v>68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9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5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5C8F33"/>
              </a:solidFill>
              <a:effectLst/>
            </c:spPr>
          </c:dPt>
          <c:dPt>
            <c:idx val="1"/>
            <c:bubble3D val="0"/>
            <c:spPr>
              <a:solidFill>
                <a:srgbClr val="D7A800"/>
              </a:solidFill>
              <a:effectLst/>
            </c:spPr>
          </c:dPt>
          <c:dPt>
            <c:idx val="2"/>
            <c:bubble3D val="0"/>
            <c:spPr>
              <a:solidFill>
                <a:srgbClr val="8CCB6C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High</c:v>
                </c:pt>
                <c:pt idx="1">
                  <c:v>Medium</c:v>
                </c:pt>
                <c:pt idx="2">
                  <c:v>Small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507.9</c:v>
                </c:pt>
                <c:pt idx="1">
                  <c:v>444.8</c:v>
                </c:pt>
                <c:pt idx="2">
                  <c:v>249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5C8F33"/>
              </a:solidFill>
              <a:effectLst/>
            </c:spPr>
          </c:dPt>
          <c:dPt>
            <c:idx val="1"/>
            <c:bubble3D val="0"/>
            <c:spPr>
              <a:solidFill>
                <a:srgbClr val="D7A800"/>
              </a:solidFill>
              <a:effectLst/>
            </c:spPr>
          </c:dPt>
          <c:dPt>
            <c:idx val="2"/>
            <c:bubble3D val="0"/>
            <c:spPr>
              <a:solidFill>
                <a:srgbClr val="8CCB6C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dLblPos val="bestFit"/>
              <c:showLegendKey val="0"/>
              <c:showVal val="1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dLblPos val="bestFit"/>
              <c:showLegendKey val="0"/>
              <c:showVal val="1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dLblPos val="bestFit"/>
              <c:showLegendKey val="0"/>
              <c:showVal val="1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Tier 1</c:v>
                </c:pt>
                <c:pt idx="1">
                  <c:v>Tier 3</c:v>
                </c:pt>
                <c:pt idx="2">
                  <c:v>Tier 2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472.1</c:v>
                </c:pt>
                <c:pt idx="1">
                  <c:v>393.2</c:v>
                </c:pt>
                <c:pt idx="2">
                  <c:v>336.4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Sales</c:v>
                </c:pt>
              </c:strCache>
            </c:strRef>
          </c:tx>
          <c:spPr>
            <a:solidFill>
              <a:srgbClr val="D97A1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Supermarket Type 1</c:v>
                  </c:pt>
                  <c:pt idx="1">
                    <c:v>Grocery Store</c:v>
                  </c:pt>
                  <c:pt idx="2">
                    <c:v>Supermarket Type 2</c:v>
                  </c:pt>
                  <c:pt idx="3">
                    <c:v>Supermarket Type 3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787.5</c:v>
                </c:pt>
                <c:pt idx="1">
                  <c:v>151.9</c:v>
                </c:pt>
                <c:pt idx="2">
                  <c:v>131.5</c:v>
                </c:pt>
                <c:pt idx="3">
                  <c:v>130.7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5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0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Sales</c:v>
                </c:pt>
              </c:strCache>
            </c:strRef>
          </c:tx>
          <c:spPr>
            <a:solidFill>
              <a:srgbClr val="D7A8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Supermarket Type 1</c:v>
                  </c:pt>
                  <c:pt idx="1">
                    <c:v>Supermarket Type 2</c:v>
                  </c:pt>
                  <c:pt idx="2">
                    <c:v>Supermarket Type 3</c:v>
                  </c:pt>
                  <c:pt idx="3">
                    <c:v>Grocery Store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141</c:v>
                </c:pt>
                <c:pt idx="1">
                  <c:v>142</c:v>
                </c:pt>
                <c:pt idx="2">
                  <c:v>140</c:v>
                </c:pt>
                <c:pt idx="3">
                  <c:v>140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6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4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No. of Items</c:v>
                </c:pt>
              </c:strCache>
            </c:strRef>
          </c:tx>
          <c:spPr>
            <a:solidFill>
              <a:srgbClr val="5C8F3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Supermarket Type 1</c:v>
                  </c:pt>
                  <c:pt idx="1">
                    <c:v>Grocery Store</c:v>
                  </c:pt>
                  <c:pt idx="2">
                    <c:v>Supermarket Type 3</c:v>
                  </c:pt>
                  <c:pt idx="3">
                    <c:v>Supermarket Type 2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5577</c:v>
                </c:pt>
                <c:pt idx="1">
                  <c:v>1083</c:v>
                </c:pt>
                <c:pt idx="2">
                  <c:v>935</c:v>
                </c:pt>
                <c:pt idx="3">
                  <c:v>928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0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50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Blinkit Grocery Sales Analysis Documentation.pdf, pages 1, 6
[/Sources]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Blinkit Grocery Sales Analysis Documentation.pdf, pages 1, 2
[/Sources]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Blinkit Grocery Sales Analysis Documentation.pdf, pages 2, 3
[/Sources]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Blinkit Grocery Sales Analysis Documentation.pdf, pages 3, 4
[/Sources]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Blinkit Grocery Sales Analysis Documentation.pdf, pages 5
[/Sources]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Blinkit Grocery Sales Analysis Documentation.pdf, pages 6
[/Sources]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4C400"/>
          </a:solidFill>
          <a:ln w="12700">
            <a:solidFill>
              <a:srgbClr val="F4C4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4E8B36"/>
          </a:solidFill>
          <a:ln w="12700">
            <a:solidFill>
              <a:srgbClr val="4E8B36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9224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9224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chart" Target="/ppt/charts/chart4.xml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chart" Target="/ppt/charts/chart6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chart" Target="/ppt/charts/chart8.xml"/><Relationship Id="rId3" Type="http://schemas.openxmlformats.org/officeDocument/2006/relationships/chart" Target="/ppt/charts/chart9.xml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1F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Blinkit Grocery Sales Analysis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6F6F"/>
                </a:solidFill>
              </a:rPr>
              <a:t>Presentation-ready summary of dashboard performance, mix, and growth levers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07899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8F33"/>
                </a:solidFill>
              </a:rPr>
              <a:t>Executive snapshot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1554480" cy="914400"/>
          </a:xfrm>
          <a:prstGeom prst="roundRect">
            <a:avLst>
              <a:gd name="adj" fmla="val 8000"/>
            </a:avLst>
          </a:prstGeom>
          <a:solidFill>
            <a:srgbClr val="F4C400"/>
          </a:solidFill>
          <a:ln w="12700">
            <a:solidFill>
              <a:srgbClr val="F4C400"/>
            </a:solidFill>
            <a:prstDash val="solid"/>
          </a:ln>
          <a:effectLst>
            <a:outerShdw sx="100000" sy="100000" kx="0" ky="0" algn="bl" rotWithShape="0" blurRad="15240" dist="13970" dir="27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58952" y="1581912"/>
            <a:ext cx="1225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1F1F"/>
                </a:solidFill>
              </a:rPr>
              <a:t>$1.20M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58952" y="1911096"/>
            <a:ext cx="1225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1F1F"/>
                </a:solidFill>
              </a:rPr>
              <a:t>Total Sales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286000" y="1417320"/>
            <a:ext cx="1417320" cy="914400"/>
          </a:xfrm>
          <a:prstGeom prst="roundRect">
            <a:avLst>
              <a:gd name="adj" fmla="val 8000"/>
            </a:avLst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  <a:effectLst>
            <a:outerShdw sx="100000" sy="100000" kx="0" ky="0" algn="bl" rotWithShape="0" blurRad="15240" dist="13970" dir="27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50592" y="1581912"/>
            <a:ext cx="1088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1F1F"/>
                </a:solidFill>
              </a:rPr>
              <a:t>$141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450592" y="1911096"/>
            <a:ext cx="1088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1F1F"/>
                </a:solidFill>
              </a:rPr>
              <a:t>Avg Sales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94360" y="2487168"/>
            <a:ext cx="1554480" cy="914400"/>
          </a:xfrm>
          <a:prstGeom prst="roundRect">
            <a:avLst>
              <a:gd name="adj" fmla="val 8000"/>
            </a:avLst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  <a:effectLst>
            <a:outerShdw sx="100000" sy="100000" kx="0" ky="0" algn="bl" rotWithShape="0" blurRad="15240" dist="1397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58952" y="2651760"/>
            <a:ext cx="1225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1F1F"/>
                </a:solidFill>
              </a:rPr>
              <a:t>8,523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58952" y="2980944"/>
            <a:ext cx="1225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1F1F"/>
                </a:solidFill>
              </a:rPr>
              <a:t>No. of Items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286000" y="2487168"/>
            <a:ext cx="1417320" cy="914400"/>
          </a:xfrm>
          <a:prstGeom prst="roundRect">
            <a:avLst>
              <a:gd name="adj" fmla="val 8000"/>
            </a:avLst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  <a:effectLst>
            <a:outerShdw sx="100000" sy="100000" kx="0" ky="0" algn="bl" rotWithShape="0" blurRad="15240" dist="13970" dir="27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450592" y="2651760"/>
            <a:ext cx="1088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1F1F"/>
                </a:solidFill>
              </a:rPr>
              <a:t>4.0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450592" y="2980944"/>
            <a:ext cx="1088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1F1F"/>
                </a:solidFill>
              </a:rPr>
              <a:t>Avg Rating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3657600"/>
            <a:ext cx="3520440" cy="2194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Sales reached $1.20M with a strong average rating of 4.0.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The business sold 8,523 items with average sales of $141 per transaction.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The dashboard points to clear growth pockets in high-volume categories, large outlets, and Tier 1 locations.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251960" y="1143000"/>
            <a:ext cx="7315200" cy="5029200"/>
          </a:xfrm>
          <a:prstGeom prst="roundRect">
            <a:avLst>
              <a:gd name="adj" fmla="val 1455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25000"/>
              </a:srgbClr>
            </a:outerShdw>
          </a:effectLst>
        </p:spPr>
      </p:sp>
      <p:pic>
        <p:nvPicPr>
          <p:cNvPr id="19" name="Image 0" descr="/mnt/data/blinkit_pdf_render/page-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07776" y="1325880"/>
            <a:ext cx="3603567" cy="46634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9224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1F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Outlet Establishment Trend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6F6F"/>
                </a:solidFill>
              </a:rPr>
              <a:t>Sales peaked in 2018, then settled into a lower but stable run-rate by 2022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1737360" cy="292608"/>
          </a:xfrm>
          <a:prstGeom prst="roundRect">
            <a:avLst>
              <a:gd name="adj" fmla="val 15625"/>
            </a:avLst>
          </a:prstGeom>
          <a:solidFill>
            <a:srgbClr val="E8EFD9"/>
          </a:solidFill>
          <a:ln w="12700">
            <a:solidFill>
              <a:srgbClr val="E8EF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1060704"/>
            <a:ext cx="1591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C8F33"/>
                </a:solidFill>
              </a:rPr>
              <a:t>Trend view</a:t>
            </a:r>
            <a:endParaRPr lang="en-US" sz="1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94360" y="1325880"/>
          <a:ext cx="649224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7406640" y="123444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C8F33"/>
                </a:solidFill>
              </a:rPr>
              <a:t>What stands out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60920" y="1572768"/>
            <a:ext cx="4160520" cy="1737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</a:rPr>
              <a:t>2018 was the clear high point at $204.5K.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</a:rPr>
              <a:t>Sales then dropped back, but 2022 stabilized at about $131.5K.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</a:rPr>
              <a:t>This suggests the business can generate reliable revenue, but needs actions to smooth volatility.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406640" y="365760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C8F33"/>
                </a:solidFill>
              </a:rPr>
              <a:t>Recommended response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360920" y="3977640"/>
            <a:ext cx="4160520" cy="1691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</a:rPr>
              <a:t>Investigate what drove the 2018 surge and which elements were repeatable.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</a:rPr>
              <a:t>Use off-peak promotions to reduce seasonality pressure.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</a:rPr>
              <a:t>Track year-by-year drivers: category mix, outlet additions, pricing, and location effects.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9224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1F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Product Mix: Fat Content and Item Types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6F6F"/>
                </a:solidFill>
              </a:rPr>
              <a:t>Regular-fat products dominate today; Fruits &amp; Vegetables and Snack Foods lead the sales mix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1645920" cy="292608"/>
          </a:xfrm>
          <a:prstGeom prst="roundRect">
            <a:avLst>
              <a:gd name="adj" fmla="val 15625"/>
            </a:avLst>
          </a:prstGeom>
          <a:solidFill>
            <a:srgbClr val="E8EFD9"/>
          </a:solidFill>
          <a:ln w="12700">
            <a:solidFill>
              <a:srgbClr val="E8EF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1060704"/>
            <a:ext cx="1499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C8F33"/>
                </a:solidFill>
              </a:rPr>
              <a:t>Fat content</a:t>
            </a:r>
            <a:endParaRPr lang="en-US" sz="1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94360" y="1371600"/>
          <a:ext cx="292608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" name="Chart 1" descr=""/>
          <p:cNvGraphicFramePr/>
          <p:nvPr/>
        </p:nvGraphicFramePr>
        <p:xfrm>
          <a:off x="502920" y="4069080"/>
          <a:ext cx="320040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4114800" y="1005840"/>
            <a:ext cx="1828800" cy="292608"/>
          </a:xfrm>
          <a:prstGeom prst="roundRect">
            <a:avLst>
              <a:gd name="adj" fmla="val 15625"/>
            </a:avLst>
          </a:prstGeom>
          <a:solidFill>
            <a:srgbClr val="E8EFD9"/>
          </a:solidFill>
          <a:ln w="12700">
            <a:solidFill>
              <a:srgbClr val="E8EFD9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187952" y="1060704"/>
            <a:ext cx="1682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C8F33"/>
                </a:solidFill>
              </a:rPr>
              <a:t>Category leaders</a:t>
            </a:r>
            <a:endParaRPr lang="en-US" sz="1000" dirty="0"/>
          </a:p>
        </p:txBody>
      </p:sp>
      <p:graphicFrame>
        <p:nvGraphicFramePr>
          <p:cNvPr id="10" name="Chart 2" descr=""/>
          <p:cNvGraphicFramePr/>
          <p:nvPr/>
        </p:nvGraphicFramePr>
        <p:xfrm>
          <a:off x="4160520" y="1371600"/>
          <a:ext cx="3749040" cy="4526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Shape 6"/>
          <p:cNvSpPr/>
          <p:nvPr/>
        </p:nvSpPr>
        <p:spPr>
          <a:xfrm>
            <a:off x="8183880" y="1353312"/>
            <a:ext cx="3429000" cy="452628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25000"/>
              </a:srgbClr>
            </a:outerShdw>
          </a:effectLst>
        </p:spPr>
      </p:sp>
      <p:sp>
        <p:nvSpPr>
          <p:cNvPr id="12" name="Text 7"/>
          <p:cNvSpPr/>
          <p:nvPr/>
        </p:nvSpPr>
        <p:spPr>
          <a:xfrm>
            <a:off x="8412480" y="166420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C8F33"/>
                </a:solidFill>
              </a:rPr>
              <a:t>Key message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8366760" y="1938528"/>
            <a:ext cx="2926080" cy="2057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Regular-fat products account for 64.6% of sales versus 35.4% for low-fat.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Tier 3 outlets contribute the most fat-content sales across both mix types.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Fruits &amp; Vegetables and Snack Foods together contribute nearly 30% of total sales.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8412480" y="429768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C8F33"/>
                </a:solidFill>
              </a:rPr>
              <a:t>Action angle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8366760" y="4553712"/>
            <a:ext cx="2926080" cy="1097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Grow low-fat assortment to capture health-conscious shoppers.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Defend the top two categories with visibility, promotion, and availability.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9224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1F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Where Sales Come From: Outlet Size and Location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6F6F"/>
                </a:solidFill>
              </a:rPr>
              <a:t>Large formats and Tier 1 locations carry the strongest revenue contribution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1554480" cy="292608"/>
          </a:xfrm>
          <a:prstGeom prst="roundRect">
            <a:avLst>
              <a:gd name="adj" fmla="val 15625"/>
            </a:avLst>
          </a:prstGeom>
          <a:solidFill>
            <a:srgbClr val="E8EFD9"/>
          </a:solidFill>
          <a:ln w="12700">
            <a:solidFill>
              <a:srgbClr val="E8EF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1060704"/>
            <a:ext cx="1408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C8F33"/>
                </a:solidFill>
              </a:rPr>
              <a:t>Outlet size</a:t>
            </a:r>
            <a:endParaRPr lang="en-US" sz="1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325880"/>
          <a:ext cx="384048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4663440" y="1005840"/>
            <a:ext cx="1645920" cy="292608"/>
          </a:xfrm>
          <a:prstGeom prst="roundRect">
            <a:avLst>
              <a:gd name="adj" fmla="val 15625"/>
            </a:avLst>
          </a:prstGeom>
          <a:solidFill>
            <a:srgbClr val="E8EFD9"/>
          </a:solidFill>
          <a:ln w="12700">
            <a:solidFill>
              <a:srgbClr val="E8EFD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736592" y="1060704"/>
            <a:ext cx="1499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C8F33"/>
                </a:solidFill>
              </a:rPr>
              <a:t>Location split</a:t>
            </a:r>
            <a:endParaRPr lang="en-US" sz="1000" dirty="0"/>
          </a:p>
        </p:txBody>
      </p:sp>
      <p:graphicFrame>
        <p:nvGraphicFramePr>
          <p:cNvPr id="9" name="Chart 1" descr=""/>
          <p:cNvGraphicFramePr/>
          <p:nvPr/>
        </p:nvGraphicFramePr>
        <p:xfrm>
          <a:off x="4663440" y="1417320"/>
          <a:ext cx="3337560" cy="3154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Shape 6"/>
          <p:cNvSpPr/>
          <p:nvPr/>
        </p:nvSpPr>
        <p:spPr>
          <a:xfrm>
            <a:off x="8366760" y="1325880"/>
            <a:ext cx="3291840" cy="420624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25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8595360" y="164592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C8F33"/>
                </a:solidFill>
              </a:rPr>
              <a:t>Interpretation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8549640" y="1938528"/>
            <a:ext cx="2834640" cy="1828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High-size outlets contribute $507.9K, or 42% of total sales.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Medium-size outlets add another 37%, while small outlets lag at 21%.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Tier 1 locations lead with $472.1K; Tier 3 and Tier 2 trail behind.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8595360" y="406908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C8F33"/>
                </a:solidFill>
              </a:rPr>
              <a:t>Implications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8549640" y="4343400"/>
            <a:ext cx="2834640" cy="1005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Invest in high-performing outlet footprints.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Use local campaigns and supply-chain improvements to lift Tier 2 and Tier 3 markets.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9224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1F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Outlet Type Contribution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6F6F"/>
                </a:solidFill>
              </a:rPr>
              <a:t>Supermarket Type 1 is the clear engine of revenue and item volume</a:t>
            </a:r>
            <a:endParaRPr lang="en-US" sz="1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371600"/>
          <a:ext cx="365760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4343400" y="1371600"/>
          <a:ext cx="292608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Chart 2" descr=""/>
          <p:cNvGraphicFramePr/>
          <p:nvPr/>
        </p:nvGraphicFramePr>
        <p:xfrm>
          <a:off x="7452360" y="1371600"/>
          <a:ext cx="374904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 2"/>
          <p:cNvSpPr/>
          <p:nvPr/>
        </p:nvSpPr>
        <p:spPr>
          <a:xfrm>
            <a:off x="777240" y="589788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33333"/>
                </a:solidFill>
              </a:rPr>
              <a:t>Takeaway: Supermarket Type 1 delivers 65.6% of total revenue ($787.5K), far ahead of other outlet formats.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9224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1F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Priority Recommendations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6F6F"/>
                </a:solidFill>
              </a:rPr>
              <a:t>Five moves to convert the dashboard into action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85800" y="1234440"/>
            <a:ext cx="438912" cy="438912"/>
          </a:xfrm>
          <a:prstGeom prst="roundRect">
            <a:avLst>
              <a:gd name="adj" fmla="val 18750"/>
            </a:avLst>
          </a:prstGeom>
          <a:solidFill>
            <a:srgbClr val="F4C400"/>
          </a:solidFill>
          <a:ln w="12700">
            <a:solidFill>
              <a:srgbClr val="F4C4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307592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1F1F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80160" y="125272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F1F"/>
                </a:solidFill>
              </a:rPr>
              <a:t>Back the leaders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80160" y="1472184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</a:rPr>
              <a:t>Put more visibility and inventory behind Fruits &amp; Vegetables and Snack Foods, which together make up nearly 30% of sales.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2221992"/>
            <a:ext cx="438912" cy="438912"/>
          </a:xfrm>
          <a:prstGeom prst="roundRect">
            <a:avLst>
              <a:gd name="adj" fmla="val 18750"/>
            </a:avLst>
          </a:prstGeom>
          <a:solidFill>
            <a:srgbClr val="DCE8CF"/>
          </a:solidFill>
          <a:ln w="12700">
            <a:solidFill>
              <a:srgbClr val="DCE8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295144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1F1F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80160" y="224028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F1F"/>
                </a:solidFill>
              </a:rPr>
              <a:t>Broaden regular-fat winners, test low-fat growth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80160" y="2459736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</a:rPr>
              <a:t>Regular-fat items drive 64.6% of revenue today, while low-fat remains the white-space growth bet.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85800" y="3209544"/>
            <a:ext cx="438912" cy="438912"/>
          </a:xfrm>
          <a:prstGeom prst="roundRect">
            <a:avLst>
              <a:gd name="adj" fmla="val 18750"/>
            </a:avLst>
          </a:prstGeom>
          <a:solidFill>
            <a:srgbClr val="DCE8CF"/>
          </a:solidFill>
          <a:ln w="12700">
            <a:solidFill>
              <a:srgbClr val="DCE8C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282696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1F1F"/>
                </a:solidFill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80160" y="322783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F1F"/>
                </a:solidFill>
              </a:rPr>
              <a:t>Invest where returns are strongest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80160" y="3447288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</a:rPr>
              <a:t>Tier 1 locations and high-size outlets already outperform and should get priority expansion and marketing support.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85800" y="4197096"/>
            <a:ext cx="438912" cy="438912"/>
          </a:xfrm>
          <a:prstGeom prst="roundRect">
            <a:avLst>
              <a:gd name="adj" fmla="val 18750"/>
            </a:avLst>
          </a:prstGeom>
          <a:solidFill>
            <a:srgbClr val="DCE8CF"/>
          </a:solidFill>
          <a:ln w="12700">
            <a:solidFill>
              <a:srgbClr val="DCE8C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4270248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1F1F"/>
                </a:solidFill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80160" y="421538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F1F"/>
                </a:solidFill>
              </a:rPr>
              <a:t>Stabilize the demand curve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80160" y="443484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</a:rPr>
              <a:t>Use promotion calendars and post-2018 driver analysis to reduce volatility across years.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85800" y="5184648"/>
            <a:ext cx="438912" cy="438912"/>
          </a:xfrm>
          <a:prstGeom prst="roundRect">
            <a:avLst>
              <a:gd name="adj" fmla="val 18750"/>
            </a:avLst>
          </a:prstGeom>
          <a:solidFill>
            <a:srgbClr val="DCE8CF"/>
          </a:solidFill>
          <a:ln w="12700">
            <a:solidFill>
              <a:srgbClr val="DCE8C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5257800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1F1F"/>
                </a:solidFill>
              </a:rPr>
              <a:t>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280160" y="520293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F1F"/>
                </a:solidFill>
              </a:rPr>
              <a:t>Protect customer loyalty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80160" y="5422392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</a:rPr>
              <a:t>Maintain the 4.0 rating with quality, availability, and reliable delivery.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00800" y="1234440"/>
            <a:ext cx="507492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25000"/>
              </a:srgbClr>
            </a:outerShdw>
          </a:effectLst>
        </p:spPr>
      </p:sp>
      <p:pic>
        <p:nvPicPr>
          <p:cNvPr id="25" name="Image 0" descr="/mnt/data/blinkit_pdf_render/page-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48451" y="1444752"/>
            <a:ext cx="3179618" cy="41148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9224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Blinkit Grocery Sales Analysis</dc:title>
  <dc:subject>Blinkit Grocery Sales Analysis</dc:subject>
  <dc:creator>OpenAI</dc:creator>
  <cp:lastModifiedBy>OpenAI</cp:lastModifiedBy>
  <cp:revision>1</cp:revision>
  <dcterms:created xsi:type="dcterms:W3CDTF">2026-04-20T10:57:46Z</dcterms:created>
  <dcterms:modified xsi:type="dcterms:W3CDTF">2026-04-20T10:57:46Z</dcterms:modified>
</cp:coreProperties>
</file>